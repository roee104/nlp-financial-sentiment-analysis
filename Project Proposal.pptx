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143500" cx="9144000"/>
  <p:notesSz cx="6858000" cy="9144000"/>
  <p:embeddedFontLst>
    <p:embeddedFont>
      <p:font typeface="Raleway"/>
      <p:regular r:id="rId9"/>
      <p:bold r:id="rId10"/>
      <p:italic r:id="rId11"/>
      <p:boldItalic r:id="rId12"/>
    </p:embeddedFont>
    <p:embeddedFont>
      <p:font typeface="Anaheim"/>
      <p:regular r:id="rId13"/>
      <p:bold r:id="rId14"/>
    </p:embeddedFont>
    <p:embeddedFont>
      <p:font typeface="Cairo"/>
      <p:regular r:id="rId15"/>
      <p:bold r:id="rId16"/>
    </p:embeddedFont>
    <p:embeddedFont>
      <p:font typeface="Space Grotesk Medium"/>
      <p:regular r:id="rId17"/>
      <p:bold r:id="rId18"/>
    </p:embeddedFont>
    <p:embeddedFont>
      <p:font typeface="Space Grotesk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-bold.fntdata"/><Relationship Id="rId11" Type="http://schemas.openxmlformats.org/officeDocument/2006/relationships/font" Target="fonts/Raleway-italic.fntdata"/><Relationship Id="rId10" Type="http://schemas.openxmlformats.org/officeDocument/2006/relationships/font" Target="fonts/Raleway-bold.fntdata"/><Relationship Id="rId13" Type="http://schemas.openxmlformats.org/officeDocument/2006/relationships/font" Target="fonts/Anaheim-regular.fntdata"/><Relationship Id="rId12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aleway-regular.fntdata"/><Relationship Id="rId15" Type="http://schemas.openxmlformats.org/officeDocument/2006/relationships/font" Target="fonts/Cairo-regular.fntdata"/><Relationship Id="rId14" Type="http://schemas.openxmlformats.org/officeDocument/2006/relationships/font" Target="fonts/Anaheim-bold.fntdata"/><Relationship Id="rId17" Type="http://schemas.openxmlformats.org/officeDocument/2006/relationships/font" Target="fonts/SpaceGroteskMedium-regular.fntdata"/><Relationship Id="rId16" Type="http://schemas.openxmlformats.org/officeDocument/2006/relationships/font" Target="fonts/Cairo-bold.fntdata"/><Relationship Id="rId5" Type="http://schemas.openxmlformats.org/officeDocument/2006/relationships/slide" Target="slides/slide1.xml"/><Relationship Id="rId19" Type="http://schemas.openxmlformats.org/officeDocument/2006/relationships/font" Target="fonts/SpaceGrotesk-regular.fntdata"/><Relationship Id="rId6" Type="http://schemas.openxmlformats.org/officeDocument/2006/relationships/slide" Target="slides/slide2.xml"/><Relationship Id="rId18" Type="http://schemas.openxmlformats.org/officeDocument/2006/relationships/font" Target="fonts/SpaceGroteskMedium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3;p3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4" name="Google Shape;14;p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720000" y="1090229"/>
            <a:ext cx="77040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9" name="Google Shape;19;p3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title"/>
          </p:nvPr>
        </p:nvSpPr>
        <p:spPr>
          <a:xfrm>
            <a:off x="720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" name="Google Shape;24;p4"/>
          <p:cNvSpPr txBox="1"/>
          <p:nvPr>
            <p:ph idx="3" type="title"/>
          </p:nvPr>
        </p:nvSpPr>
        <p:spPr>
          <a:xfrm>
            <a:off x="720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" name="Google Shape;25;p4"/>
          <p:cNvSpPr txBox="1"/>
          <p:nvPr>
            <p:ph idx="4" type="title"/>
          </p:nvPr>
        </p:nvSpPr>
        <p:spPr>
          <a:xfrm>
            <a:off x="3306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" name="Google Shape;26;p4"/>
          <p:cNvSpPr txBox="1"/>
          <p:nvPr>
            <p:ph idx="5" type="title"/>
          </p:nvPr>
        </p:nvSpPr>
        <p:spPr>
          <a:xfrm>
            <a:off x="3306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" name="Google Shape;27;p4"/>
          <p:cNvSpPr txBox="1"/>
          <p:nvPr>
            <p:ph idx="6" type="title"/>
          </p:nvPr>
        </p:nvSpPr>
        <p:spPr>
          <a:xfrm>
            <a:off x="5892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" name="Google Shape;28;p4"/>
          <p:cNvSpPr txBox="1"/>
          <p:nvPr>
            <p:ph idx="7" type="title"/>
          </p:nvPr>
        </p:nvSpPr>
        <p:spPr>
          <a:xfrm>
            <a:off x="5892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" name="Google Shape;29;p4"/>
          <p:cNvSpPr txBox="1"/>
          <p:nvPr>
            <p:ph idx="1" type="subTitle"/>
          </p:nvPr>
        </p:nvSpPr>
        <p:spPr>
          <a:xfrm>
            <a:off x="720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8" type="subTitle"/>
          </p:nvPr>
        </p:nvSpPr>
        <p:spPr>
          <a:xfrm>
            <a:off x="3306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9" type="subTitle"/>
          </p:nvPr>
        </p:nvSpPr>
        <p:spPr>
          <a:xfrm>
            <a:off x="5892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3" type="subTitle"/>
          </p:nvPr>
        </p:nvSpPr>
        <p:spPr>
          <a:xfrm>
            <a:off x="720000" y="3544900"/>
            <a:ext cx="2532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4" type="subTitle"/>
          </p:nvPr>
        </p:nvSpPr>
        <p:spPr>
          <a:xfrm>
            <a:off x="3306000" y="3544900"/>
            <a:ext cx="2532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5" type="subTitle"/>
          </p:nvPr>
        </p:nvSpPr>
        <p:spPr>
          <a:xfrm>
            <a:off x="5892000" y="3544900"/>
            <a:ext cx="2532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35" name="Google Shape;35;p4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36" name="Google Shape;36;p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37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" name="Google Shape;38;p4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39" name="Google Shape;39;p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43" name="Google Shape;43;p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Google Shape;44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" name="Google Shape;45;p5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46" name="Google Shape;46;p5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" name="Google Shape;4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" type="subTitle"/>
          </p:nvPr>
        </p:nvSpPr>
        <p:spPr>
          <a:xfrm>
            <a:off x="865525" y="2741725"/>
            <a:ext cx="2189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2" type="subTitle"/>
          </p:nvPr>
        </p:nvSpPr>
        <p:spPr>
          <a:xfrm>
            <a:off x="3433873" y="2741725"/>
            <a:ext cx="2189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subTitle"/>
          </p:nvPr>
        </p:nvSpPr>
        <p:spPr>
          <a:xfrm>
            <a:off x="6002228" y="2741725"/>
            <a:ext cx="2189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4" type="subTitle"/>
          </p:nvPr>
        </p:nvSpPr>
        <p:spPr>
          <a:xfrm>
            <a:off x="865525" y="2046500"/>
            <a:ext cx="2189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5" type="subTitle"/>
          </p:nvPr>
        </p:nvSpPr>
        <p:spPr>
          <a:xfrm>
            <a:off x="3433878" y="2046500"/>
            <a:ext cx="2189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6" type="subTitle"/>
          </p:nvPr>
        </p:nvSpPr>
        <p:spPr>
          <a:xfrm>
            <a:off x="6002231" y="2046500"/>
            <a:ext cx="2189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57" name="Google Shape;57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Google Shape;59;p6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60" name="Google Shape;60;p6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6"/>
          <p:cNvSpPr txBox="1"/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7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65" name="Google Shape;65;p7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7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" name="Google Shape;67;p7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68" name="Google Shape;68;p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7"/>
          <p:cNvSpPr txBox="1"/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" type="subTitle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8"/>
          <p:cNvSpPr txBox="1"/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" name="Google Shape;75;p8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76" name="Google Shape;76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" name="Google Shape;78;p8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79" name="Google Shape;79;p8"/>
            <p:cNvGrpSpPr/>
            <p:nvPr/>
          </p:nvGrpSpPr>
          <p:grpSpPr>
            <a:xfrm flipH="1" rot="-10539848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80" name="Google Shape;80;p8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8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" name="Google Shape;82;p8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83" name="Google Shape;83;p8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8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0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88" name="Google Shape;88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" name="Google Shape;90;p10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91" name="Google Shape;91;p10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0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1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95" name="Google Shape;95;p1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" name="Google Shape;97;p11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98" name="Google Shape;98;p11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99" name="Google Shape;99;p11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1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" name="Google Shape;101;p11"/>
            <p:cNvGrpSpPr/>
            <p:nvPr/>
          </p:nvGrpSpPr>
          <p:grpSpPr>
            <a:xfrm flipH="1" rot="-10539848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102" name="Google Shape;102;p11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11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0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 txBox="1"/>
          <p:nvPr>
            <p:ph type="ctrTitle"/>
          </p:nvPr>
        </p:nvSpPr>
        <p:spPr>
          <a:xfrm>
            <a:off x="1152000" y="877269"/>
            <a:ext cx="6840000" cy="16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-US" sz="4000">
                <a:solidFill>
                  <a:srgbClr val="002060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Financial Sentiment Across News Sources</a:t>
            </a:r>
            <a:endParaRPr b="1" sz="4000">
              <a:solidFill>
                <a:srgbClr val="00206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9" name="Google Shape;109;p12"/>
          <p:cNvSpPr txBox="1"/>
          <p:nvPr/>
        </p:nvSpPr>
        <p:spPr>
          <a:xfrm>
            <a:off x="3099600" y="2582875"/>
            <a:ext cx="29448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PROPOSAL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6667452" y="3968710"/>
            <a:ext cx="3797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Liel Ziv, 212541353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Roei Levi, 20749</a:t>
            </a:r>
            <a:r>
              <a:rPr lang="en-US"/>
              <a:t>6852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Adir Havakuk,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2"/>
          <p:cNvSpPr txBox="1"/>
          <p:nvPr/>
        </p:nvSpPr>
        <p:spPr>
          <a:xfrm>
            <a:off x="289105" y="4168765"/>
            <a:ext cx="287382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Repository: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 txBox="1"/>
          <p:nvPr>
            <p:ph type="title"/>
          </p:nvPr>
        </p:nvSpPr>
        <p:spPr>
          <a:xfrm>
            <a:off x="2094893" y="192399"/>
            <a:ext cx="5002763" cy="10158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200"/>
              <a:t>Problem Statement </a:t>
            </a:r>
            <a:endParaRPr sz="3200"/>
          </a:p>
        </p:txBody>
      </p:sp>
      <p:sp>
        <p:nvSpPr>
          <p:cNvPr id="117" name="Google Shape;117;p13"/>
          <p:cNvSpPr txBox="1"/>
          <p:nvPr/>
        </p:nvSpPr>
        <p:spPr>
          <a:xfrm>
            <a:off x="1610302" y="4228350"/>
            <a:ext cx="33036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723293" y="875948"/>
            <a:ext cx="20232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986554" y="1138529"/>
            <a:ext cx="560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Financial news plays a critical role in influencing market trends, and quick interpretation of this news can empower investors and analysts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723293" y="1787881"/>
            <a:ext cx="2217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Definition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997200" y="2093225"/>
            <a:ext cx="7113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i="1" lang="en-US"/>
              <a:t>NLP Task: </a:t>
            </a:r>
            <a:r>
              <a:rPr lang="en-US"/>
              <a:t>Develop an LLM-based system that automatically classifies financial     news articles into sentiment categories: Positive, Negative, or Neutral.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(Optionally, provide sentiment intensity scores to gauge confidence)</a:t>
            </a:r>
            <a:r>
              <a:rPr i="1" lang="en-US"/>
              <a:t> </a:t>
            </a:r>
            <a:endParaRPr i="1"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/>
              <a:t> Text from financial news articles (headlines, snippets, or full articles).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/>
              <a:t>Sentiment labels with optional confidence scores.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723293" y="3487764"/>
            <a:ext cx="146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992674" y="3328028"/>
            <a:ext cx="3700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 Ligh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 Ligh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/>
              <a:t>Handling domain-specific language, subtle sentiment cues, and the unique financial jargon present in the news.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 txBox="1"/>
          <p:nvPr>
            <p:ph idx="2" type="title"/>
          </p:nvPr>
        </p:nvSpPr>
        <p:spPr>
          <a:xfrm>
            <a:off x="633600" y="997460"/>
            <a:ext cx="734700" cy="36951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Type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4"/>
          <p:cNvSpPr txBox="1"/>
          <p:nvPr>
            <p:ph idx="3" type="title"/>
          </p:nvPr>
        </p:nvSpPr>
        <p:spPr>
          <a:xfrm>
            <a:off x="633600" y="2799352"/>
            <a:ext cx="1108800" cy="39350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Sources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2476801" y="197201"/>
            <a:ext cx="4953599" cy="8135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Training and Test Data</a:t>
            </a:r>
            <a:endParaRPr b="1" i="0" sz="32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633600" y="1526400"/>
            <a:ext cx="396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/>
              <a:t>The datasets consist of financial news articles with sentiment annotations 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(Positive, Negative, Neutral)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583200" y="3348000"/>
            <a:ext cx="40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/>
              <a:t>Utilize publicly available datasets like the Financial Phrase Bank and relevant financial news datasets on Kaggle.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815516" y="1911702"/>
            <a:ext cx="11649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/>
              <a:t>Metrics:</a:t>
            </a:r>
            <a:r>
              <a:rPr lang="en-US"/>
              <a:t> </a:t>
            </a:r>
            <a:endParaRPr/>
          </a:p>
        </p:txBody>
      </p:sp>
      <p:sp>
        <p:nvSpPr>
          <p:cNvPr id="138" name="Google Shape;138;p15"/>
          <p:cNvSpPr txBox="1"/>
          <p:nvPr>
            <p:ph idx="1" type="subTitle"/>
          </p:nvPr>
        </p:nvSpPr>
        <p:spPr>
          <a:xfrm>
            <a:off x="839700" y="2460313"/>
            <a:ext cx="27777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Accuracy, Precision, Recall, and F1-score to measure sentiment classification performance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5"/>
          <p:cNvSpPr txBox="1"/>
          <p:nvPr>
            <p:ph idx="3" type="subTitle"/>
          </p:nvPr>
        </p:nvSpPr>
        <p:spPr>
          <a:xfrm>
            <a:off x="5115519" y="2468728"/>
            <a:ext cx="3120300" cy="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Candidate sentiment predictions are ranked by computing cosine similarity between FinBERT-derived text embeddings and entity embeddings from expert annotations.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5"/>
          <p:cNvSpPr txBox="1"/>
          <p:nvPr>
            <p:ph idx="6" type="subTitle"/>
          </p:nvPr>
        </p:nvSpPr>
        <p:spPr>
          <a:xfrm>
            <a:off x="5115519" y="1949145"/>
            <a:ext cx="2189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/>
              <a:t>Baseline:</a:t>
            </a:r>
            <a:r>
              <a:rPr lang="en-US"/>
              <a:t> 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885022" y="1784384"/>
            <a:ext cx="329188" cy="329175"/>
          </a:xfrm>
          <a:custGeom>
            <a:rect b="b" l="l" r="r" t="t"/>
            <a:pathLst>
              <a:path extrusionOk="0" h="11551" w="11456">
                <a:moveTo>
                  <a:pt x="9717" y="715"/>
                </a:moveTo>
                <a:lnTo>
                  <a:pt x="9717" y="1501"/>
                </a:lnTo>
                <a:lnTo>
                  <a:pt x="5311" y="1501"/>
                </a:lnTo>
                <a:cubicBezTo>
                  <a:pt x="5073" y="1501"/>
                  <a:pt x="4906" y="1286"/>
                  <a:pt x="4930" y="1072"/>
                </a:cubicBezTo>
                <a:cubicBezTo>
                  <a:pt x="4954" y="881"/>
                  <a:pt x="5144" y="715"/>
                  <a:pt x="5359" y="715"/>
                </a:cubicBezTo>
                <a:close/>
                <a:moveTo>
                  <a:pt x="10764" y="3858"/>
                </a:moveTo>
                <a:lnTo>
                  <a:pt x="10764" y="4620"/>
                </a:lnTo>
                <a:lnTo>
                  <a:pt x="6359" y="4620"/>
                </a:lnTo>
                <a:cubicBezTo>
                  <a:pt x="6121" y="4620"/>
                  <a:pt x="5954" y="4406"/>
                  <a:pt x="5978" y="4215"/>
                </a:cubicBezTo>
                <a:cubicBezTo>
                  <a:pt x="6002" y="4001"/>
                  <a:pt x="6216" y="3858"/>
                  <a:pt x="6383" y="3858"/>
                </a:cubicBezTo>
                <a:close/>
                <a:moveTo>
                  <a:pt x="2072" y="4358"/>
                </a:moveTo>
                <a:cubicBezTo>
                  <a:pt x="2882" y="4358"/>
                  <a:pt x="3501" y="5001"/>
                  <a:pt x="3501" y="5787"/>
                </a:cubicBezTo>
                <a:cubicBezTo>
                  <a:pt x="3501" y="6597"/>
                  <a:pt x="2882" y="7216"/>
                  <a:pt x="2072" y="7216"/>
                </a:cubicBezTo>
                <a:cubicBezTo>
                  <a:pt x="1262" y="7216"/>
                  <a:pt x="643" y="6549"/>
                  <a:pt x="643" y="5787"/>
                </a:cubicBezTo>
                <a:cubicBezTo>
                  <a:pt x="643" y="4977"/>
                  <a:pt x="1310" y="4358"/>
                  <a:pt x="2072" y="4358"/>
                </a:cubicBezTo>
                <a:close/>
                <a:moveTo>
                  <a:pt x="10764" y="6978"/>
                </a:moveTo>
                <a:lnTo>
                  <a:pt x="10764" y="7740"/>
                </a:lnTo>
                <a:lnTo>
                  <a:pt x="6359" y="7740"/>
                </a:lnTo>
                <a:cubicBezTo>
                  <a:pt x="6121" y="7740"/>
                  <a:pt x="5954" y="7549"/>
                  <a:pt x="5978" y="7335"/>
                </a:cubicBezTo>
                <a:cubicBezTo>
                  <a:pt x="6002" y="7121"/>
                  <a:pt x="6216" y="6978"/>
                  <a:pt x="6383" y="6978"/>
                </a:cubicBezTo>
                <a:close/>
                <a:moveTo>
                  <a:pt x="9717" y="10098"/>
                </a:moveTo>
                <a:lnTo>
                  <a:pt x="9717" y="10883"/>
                </a:lnTo>
                <a:lnTo>
                  <a:pt x="5311" y="10883"/>
                </a:lnTo>
                <a:cubicBezTo>
                  <a:pt x="5073" y="10883"/>
                  <a:pt x="4906" y="10669"/>
                  <a:pt x="4930" y="10455"/>
                </a:cubicBezTo>
                <a:cubicBezTo>
                  <a:pt x="4954" y="10240"/>
                  <a:pt x="5144" y="10098"/>
                  <a:pt x="5359" y="10098"/>
                </a:cubicBezTo>
                <a:close/>
                <a:moveTo>
                  <a:pt x="5359" y="0"/>
                </a:moveTo>
                <a:cubicBezTo>
                  <a:pt x="4882" y="0"/>
                  <a:pt x="4477" y="310"/>
                  <a:pt x="4335" y="739"/>
                </a:cubicBezTo>
                <a:lnTo>
                  <a:pt x="3001" y="739"/>
                </a:lnTo>
                <a:lnTo>
                  <a:pt x="1858" y="3668"/>
                </a:lnTo>
                <a:cubicBezTo>
                  <a:pt x="834" y="3787"/>
                  <a:pt x="0" y="4668"/>
                  <a:pt x="0" y="5787"/>
                </a:cubicBezTo>
                <a:cubicBezTo>
                  <a:pt x="0" y="6883"/>
                  <a:pt x="834" y="7764"/>
                  <a:pt x="1858" y="7883"/>
                </a:cubicBezTo>
                <a:lnTo>
                  <a:pt x="3001" y="10812"/>
                </a:lnTo>
                <a:lnTo>
                  <a:pt x="4335" y="10812"/>
                </a:lnTo>
                <a:cubicBezTo>
                  <a:pt x="4477" y="11217"/>
                  <a:pt x="4882" y="11550"/>
                  <a:pt x="5359" y="11550"/>
                </a:cubicBezTo>
                <a:lnTo>
                  <a:pt x="10407" y="11550"/>
                </a:lnTo>
                <a:lnTo>
                  <a:pt x="10407" y="9383"/>
                </a:lnTo>
                <a:lnTo>
                  <a:pt x="5359" y="9383"/>
                </a:lnTo>
                <a:cubicBezTo>
                  <a:pt x="4882" y="9383"/>
                  <a:pt x="4477" y="9693"/>
                  <a:pt x="4335" y="10121"/>
                </a:cubicBezTo>
                <a:lnTo>
                  <a:pt x="3453" y="10121"/>
                </a:lnTo>
                <a:lnTo>
                  <a:pt x="2548" y="7835"/>
                </a:lnTo>
                <a:cubicBezTo>
                  <a:pt x="2929" y="7740"/>
                  <a:pt x="3287" y="7549"/>
                  <a:pt x="3572" y="7264"/>
                </a:cubicBezTo>
                <a:lnTo>
                  <a:pt x="4477" y="7668"/>
                </a:lnTo>
                <a:lnTo>
                  <a:pt x="5382" y="7668"/>
                </a:lnTo>
                <a:cubicBezTo>
                  <a:pt x="5525" y="8073"/>
                  <a:pt x="5906" y="8407"/>
                  <a:pt x="6383" y="8407"/>
                </a:cubicBezTo>
                <a:lnTo>
                  <a:pt x="11455" y="8407"/>
                </a:lnTo>
                <a:lnTo>
                  <a:pt x="11455" y="6263"/>
                </a:lnTo>
                <a:lnTo>
                  <a:pt x="6383" y="6263"/>
                </a:lnTo>
                <a:cubicBezTo>
                  <a:pt x="5906" y="6263"/>
                  <a:pt x="5525" y="6549"/>
                  <a:pt x="5382" y="7002"/>
                </a:cubicBezTo>
                <a:lnTo>
                  <a:pt x="4644" y="7002"/>
                </a:lnTo>
                <a:lnTo>
                  <a:pt x="3977" y="6740"/>
                </a:lnTo>
                <a:cubicBezTo>
                  <a:pt x="4120" y="6430"/>
                  <a:pt x="4192" y="6144"/>
                  <a:pt x="4192" y="5787"/>
                </a:cubicBezTo>
                <a:cubicBezTo>
                  <a:pt x="4192" y="5430"/>
                  <a:pt x="4096" y="5120"/>
                  <a:pt x="3977" y="4835"/>
                </a:cubicBezTo>
                <a:lnTo>
                  <a:pt x="4644" y="4549"/>
                </a:lnTo>
                <a:lnTo>
                  <a:pt x="5382" y="4549"/>
                </a:lnTo>
                <a:lnTo>
                  <a:pt x="5382" y="4573"/>
                </a:lnTo>
                <a:cubicBezTo>
                  <a:pt x="5525" y="4977"/>
                  <a:pt x="5906" y="5311"/>
                  <a:pt x="6383" y="5311"/>
                </a:cubicBezTo>
                <a:lnTo>
                  <a:pt x="11455" y="5311"/>
                </a:lnTo>
                <a:lnTo>
                  <a:pt x="11455" y="3144"/>
                </a:lnTo>
                <a:lnTo>
                  <a:pt x="6383" y="3144"/>
                </a:lnTo>
                <a:cubicBezTo>
                  <a:pt x="5906" y="3144"/>
                  <a:pt x="5525" y="3430"/>
                  <a:pt x="5382" y="3882"/>
                </a:cubicBezTo>
                <a:lnTo>
                  <a:pt x="4477" y="3882"/>
                </a:lnTo>
                <a:lnTo>
                  <a:pt x="3572" y="4263"/>
                </a:lnTo>
                <a:cubicBezTo>
                  <a:pt x="3287" y="4001"/>
                  <a:pt x="2929" y="3787"/>
                  <a:pt x="2548" y="3691"/>
                </a:cubicBezTo>
                <a:lnTo>
                  <a:pt x="3453" y="1405"/>
                </a:lnTo>
                <a:lnTo>
                  <a:pt x="4335" y="1405"/>
                </a:lnTo>
                <a:cubicBezTo>
                  <a:pt x="4477" y="1810"/>
                  <a:pt x="4882" y="2144"/>
                  <a:pt x="5359" y="2144"/>
                </a:cubicBezTo>
                <a:lnTo>
                  <a:pt x="10407" y="2144"/>
                </a:lnTo>
                <a:lnTo>
                  <a:pt x="104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3F6F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5271714" y="1927876"/>
            <a:ext cx="329189" cy="329189"/>
          </a:xfrm>
          <a:custGeom>
            <a:rect b="b" l="l" r="r" t="t"/>
            <a:pathLst>
              <a:path extrusionOk="0" h="11479" w="11480">
                <a:moveTo>
                  <a:pt x="3216" y="667"/>
                </a:moveTo>
                <a:lnTo>
                  <a:pt x="3216" y="2286"/>
                </a:lnTo>
                <a:lnTo>
                  <a:pt x="668" y="2286"/>
                </a:lnTo>
                <a:lnTo>
                  <a:pt x="668" y="667"/>
                </a:lnTo>
                <a:close/>
                <a:moveTo>
                  <a:pt x="3882" y="1262"/>
                </a:moveTo>
                <a:lnTo>
                  <a:pt x="4668" y="2191"/>
                </a:lnTo>
                <a:lnTo>
                  <a:pt x="4668" y="3406"/>
                </a:lnTo>
                <a:lnTo>
                  <a:pt x="3882" y="2501"/>
                </a:lnTo>
                <a:lnTo>
                  <a:pt x="3882" y="1262"/>
                </a:lnTo>
                <a:close/>
                <a:moveTo>
                  <a:pt x="10003" y="2405"/>
                </a:moveTo>
                <a:lnTo>
                  <a:pt x="10622" y="3215"/>
                </a:lnTo>
                <a:lnTo>
                  <a:pt x="10003" y="4001"/>
                </a:lnTo>
                <a:lnTo>
                  <a:pt x="5335" y="4001"/>
                </a:lnTo>
                <a:lnTo>
                  <a:pt x="5335" y="2405"/>
                </a:lnTo>
                <a:close/>
                <a:moveTo>
                  <a:pt x="3216" y="2929"/>
                </a:moveTo>
                <a:lnTo>
                  <a:pt x="3216" y="4549"/>
                </a:lnTo>
                <a:lnTo>
                  <a:pt x="668" y="4549"/>
                </a:lnTo>
                <a:lnTo>
                  <a:pt x="668" y="2929"/>
                </a:lnTo>
                <a:close/>
                <a:moveTo>
                  <a:pt x="3882" y="3525"/>
                </a:moveTo>
                <a:lnTo>
                  <a:pt x="4668" y="4454"/>
                </a:lnTo>
                <a:lnTo>
                  <a:pt x="4668" y="5668"/>
                </a:lnTo>
                <a:lnTo>
                  <a:pt x="3882" y="4763"/>
                </a:lnTo>
                <a:lnTo>
                  <a:pt x="3882" y="3525"/>
                </a:lnTo>
                <a:close/>
                <a:moveTo>
                  <a:pt x="10003" y="4668"/>
                </a:moveTo>
                <a:lnTo>
                  <a:pt x="10622" y="5478"/>
                </a:lnTo>
                <a:lnTo>
                  <a:pt x="10003" y="6263"/>
                </a:lnTo>
                <a:lnTo>
                  <a:pt x="5335" y="6263"/>
                </a:lnTo>
                <a:lnTo>
                  <a:pt x="5335" y="4668"/>
                </a:lnTo>
                <a:close/>
                <a:moveTo>
                  <a:pt x="3216" y="5239"/>
                </a:moveTo>
                <a:lnTo>
                  <a:pt x="3216" y="6835"/>
                </a:lnTo>
                <a:lnTo>
                  <a:pt x="668" y="6835"/>
                </a:lnTo>
                <a:lnTo>
                  <a:pt x="668" y="5239"/>
                </a:lnTo>
                <a:close/>
                <a:moveTo>
                  <a:pt x="3882" y="5787"/>
                </a:moveTo>
                <a:lnTo>
                  <a:pt x="4668" y="6716"/>
                </a:lnTo>
                <a:lnTo>
                  <a:pt x="4668" y="7930"/>
                </a:lnTo>
                <a:lnTo>
                  <a:pt x="3882" y="7025"/>
                </a:lnTo>
                <a:lnTo>
                  <a:pt x="3882" y="5787"/>
                </a:lnTo>
                <a:close/>
                <a:moveTo>
                  <a:pt x="10003" y="6954"/>
                </a:moveTo>
                <a:lnTo>
                  <a:pt x="10622" y="7764"/>
                </a:lnTo>
                <a:lnTo>
                  <a:pt x="10003" y="8573"/>
                </a:lnTo>
                <a:lnTo>
                  <a:pt x="5335" y="8573"/>
                </a:lnTo>
                <a:lnTo>
                  <a:pt x="5335" y="6954"/>
                </a:lnTo>
                <a:close/>
                <a:moveTo>
                  <a:pt x="3216" y="7478"/>
                </a:moveTo>
                <a:lnTo>
                  <a:pt x="3216" y="9097"/>
                </a:lnTo>
                <a:lnTo>
                  <a:pt x="668" y="9097"/>
                </a:lnTo>
                <a:lnTo>
                  <a:pt x="668" y="7478"/>
                </a:lnTo>
                <a:close/>
                <a:moveTo>
                  <a:pt x="3882" y="8073"/>
                </a:moveTo>
                <a:lnTo>
                  <a:pt x="4668" y="9002"/>
                </a:lnTo>
                <a:lnTo>
                  <a:pt x="4668" y="10217"/>
                </a:lnTo>
                <a:lnTo>
                  <a:pt x="3882" y="9312"/>
                </a:lnTo>
                <a:lnTo>
                  <a:pt x="3882" y="8073"/>
                </a:lnTo>
                <a:close/>
                <a:moveTo>
                  <a:pt x="10003" y="9216"/>
                </a:moveTo>
                <a:lnTo>
                  <a:pt x="10622" y="10026"/>
                </a:lnTo>
                <a:lnTo>
                  <a:pt x="10003" y="10836"/>
                </a:lnTo>
                <a:lnTo>
                  <a:pt x="5335" y="10836"/>
                </a:lnTo>
                <a:lnTo>
                  <a:pt x="5335" y="9216"/>
                </a:lnTo>
                <a:close/>
                <a:moveTo>
                  <a:pt x="1" y="0"/>
                </a:moveTo>
                <a:lnTo>
                  <a:pt x="1" y="9764"/>
                </a:lnTo>
                <a:lnTo>
                  <a:pt x="3382" y="9764"/>
                </a:lnTo>
                <a:lnTo>
                  <a:pt x="4835" y="11479"/>
                </a:lnTo>
                <a:lnTo>
                  <a:pt x="10312" y="11479"/>
                </a:lnTo>
                <a:lnTo>
                  <a:pt x="11479" y="10002"/>
                </a:lnTo>
                <a:lnTo>
                  <a:pt x="10598" y="8859"/>
                </a:lnTo>
                <a:lnTo>
                  <a:pt x="11479" y="7740"/>
                </a:lnTo>
                <a:lnTo>
                  <a:pt x="10598" y="6597"/>
                </a:lnTo>
                <a:lnTo>
                  <a:pt x="11479" y="5478"/>
                </a:lnTo>
                <a:lnTo>
                  <a:pt x="10598" y="4334"/>
                </a:lnTo>
                <a:lnTo>
                  <a:pt x="11479" y="3215"/>
                </a:lnTo>
                <a:lnTo>
                  <a:pt x="10312" y="1715"/>
                </a:lnTo>
                <a:lnTo>
                  <a:pt x="5168" y="1715"/>
                </a:lnTo>
                <a:lnTo>
                  <a:pt x="371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3F6F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5"/>
          <p:cNvSpPr txBox="1"/>
          <p:nvPr>
            <p:ph type="title"/>
          </p:nvPr>
        </p:nvSpPr>
        <p:spPr>
          <a:xfrm>
            <a:off x="2204699" y="210222"/>
            <a:ext cx="47043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200"/>
              <a:t>Evaluation</a:t>
            </a:r>
            <a:endParaRPr b="1"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